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📍 Sistema de Georreferenciamento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de Imagens para Saneamento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2743200" cy="73152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228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E27"/>
                </a:solidFill>
              </a:defRPr>
            </a:pPr>
            <a:r>
              <a:t>🏆 PRÊMIO BRK</a:t>
            </a:r>
            <a:br/>
            <a:r>
              <a:t>ATITUDE &amp; INOVAÇÃO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B8C5D6"/>
                </a:solidFill>
              </a:defRPr>
            </a:pPr>
            <a:r>
              <a:t>Solução tecnológica para otimização de processos operacionais</a:t>
            </a:r>
            <a:br/>
            <a:r>
              <a:t>e gestão inteligente de ativos em infraestrutura de saneamento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4FF"/>
                </a:solidFill>
              </a:defRPr>
            </a:pPr>
            <a:r>
              <a:t>R$ 0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INVESTIMENTO</a:t>
            </a:r>
            <a:br/>
            <a:r>
              <a:t>NECESSÁRIO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41148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4FF"/>
                </a:solidFill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212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REDUÇÃO DE TEMPO</a:t>
            </a:r>
            <a:br/>
            <a:r>
              <a:t>EM RELATÓRIOS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41148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212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PRECISÃO EM</a:t>
            </a:r>
            <a:br/>
            <a:r>
              <a:t>GEOLOCALIZAÇÃO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Contexto Operacional no Saneamento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6400800" cy="5029200"/>
          </a:xfrm>
          <a:prstGeom prst="rect">
            <a:avLst/>
          </a:prstGeom>
          <a:solidFill>
            <a:srgbClr val="7F1D1D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❌ Desafios Atuais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• Documentação Manual: Horas compilando relatórios</a:t>
            </a:r>
            <a:br/>
            <a:br/>
            <a:r>
              <a:t>• Perda de Informações: Fotos sem localização precisa</a:t>
            </a:r>
            <a:br/>
            <a:br/>
            <a:r>
              <a:t>• Retrabalho: Retornar ao campo para validar dados</a:t>
            </a:r>
            <a:br/>
            <a:br/>
            <a:r>
              <a:t>• Custos Elevados: Deslocamentos desnecessários</a:t>
            </a:r>
            <a:br/>
            <a:br/>
            <a:r>
              <a:t>• Gestão Fragmentada: Dificuldade em consolidar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6400800" cy="5029200"/>
          </a:xfrm>
          <a:prstGeom prst="rect">
            <a:avLst/>
          </a:prstGeom>
          <a:solidFill>
            <a:srgbClr val="14532D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✅ Nossa Solução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743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• Automação Total: Extração automática de GPS e metadados</a:t>
            </a:r>
            <a:br/>
            <a:br/>
            <a:r>
              <a:t>• Rastreabilidade Completa: Coordenadas precisas</a:t>
            </a:r>
            <a:br/>
            <a:br/>
            <a:r>
              <a:t>• Primeira Vez Certo: Dados validados desde a captura</a:t>
            </a:r>
            <a:br/>
            <a:br/>
            <a:r>
              <a:t>• Otimização de Recursos: Economia em tempo e equipe</a:t>
            </a:r>
            <a:br/>
            <a:br/>
            <a:r>
              <a:t>• Centralização Inteligente: Plataforma única de gestão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Visão Geral da Solução Tecnológica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3716000" cy="109728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325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🔐 Plataforma Web de Alto Desempenho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8C5D6"/>
                </a:solidFill>
              </a:defRPr>
            </a:pPr>
            <a:r>
              <a:t>Sistema com tecnologias de ponta (Next.js 15, React 19, TypeScript) garantindo processamento local,</a:t>
            </a:r>
            <a:br/>
            <a:r>
              <a:t>segurança de dados e conformidade LGPD. Totalmente responsivo para uso em campo.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🌐 100%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Sem instalação. Acesso via</a:t>
            </a:r>
            <a:br/>
            <a:r>
              <a:t>navegador de qualquer dispositivo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6576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🔒 Seguro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4805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Processamento local.</a:t>
            </a:r>
            <a:br/>
            <a:r>
              <a:t>Dados nunca saem do dispositivo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36576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⚡ Rápido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44805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Processamento em segundos,</a:t>
            </a:r>
            <a:br/>
            <a:r>
              <a:t>mesmo para múltiplas imagens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Fluxo Operacional do Sistema</a:t>
            </a:r>
          </a:p>
        </p:txBody>
      </p:sp>
      <p:sp>
        <p:nvSpPr>
          <p:cNvPr id="4" name="Trapezoid 3"/>
          <p:cNvSpPr/>
          <p:nvPr/>
        </p:nvSpPr>
        <p:spPr>
          <a:xfrm>
            <a:off x="731520" y="1828800"/>
            <a:ext cx="548640" cy="54864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0E27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737360"/>
            <a:ext cx="12344400" cy="7315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Captura em Campo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84832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Técnico fotografa com smartphone (GPS ativado)</a:t>
            </a:r>
            <a:br/>
            <a:r>
              <a:t>Formatos: JPG, PNG, HEIC</a:t>
            </a:r>
          </a:p>
        </p:txBody>
      </p:sp>
      <p:sp>
        <p:nvSpPr>
          <p:cNvPr id="9" name="Trapezoid 8"/>
          <p:cNvSpPr/>
          <p:nvPr/>
        </p:nvSpPr>
        <p:spPr>
          <a:xfrm>
            <a:off x="731520" y="2926080"/>
            <a:ext cx="548640" cy="54864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0E27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834640"/>
            <a:ext cx="12344400" cy="7315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8803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Upload na 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82112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Acessa via navegador e faz upload</a:t>
            </a:r>
            <a:br/>
            <a:r>
              <a:t>Até 50 fotos mobile / ilimitado desktop</a:t>
            </a:r>
          </a:p>
        </p:txBody>
      </p:sp>
      <p:sp>
        <p:nvSpPr>
          <p:cNvPr id="14" name="Trapezoid 13"/>
          <p:cNvSpPr/>
          <p:nvPr/>
        </p:nvSpPr>
        <p:spPr>
          <a:xfrm>
            <a:off x="731520" y="4023360"/>
            <a:ext cx="548640" cy="54864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0E27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931920"/>
            <a:ext cx="12344400" cy="7315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97764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Processamento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79392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Extração instantânea de GPS, data, hora,</a:t>
            </a:r>
            <a:br/>
            <a:r>
              <a:t>altitude e thumbnail otimizado</a:t>
            </a:r>
          </a:p>
        </p:txBody>
      </p:sp>
      <p:sp>
        <p:nvSpPr>
          <p:cNvPr id="19" name="Trapezoid 18"/>
          <p:cNvSpPr/>
          <p:nvPr/>
        </p:nvSpPr>
        <p:spPr>
          <a:xfrm>
            <a:off x="731520" y="5120640"/>
            <a:ext cx="548640" cy="54864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0E27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029200"/>
            <a:ext cx="12344400" cy="7315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50749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Visualização e Edição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76672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Interface exibe dados. Usuário adiciona</a:t>
            </a:r>
            <a:br/>
            <a:r>
              <a:t>descrições e ajusta status</a:t>
            </a:r>
          </a:p>
        </p:txBody>
      </p:sp>
      <p:sp>
        <p:nvSpPr>
          <p:cNvPr id="24" name="Trapezoid 23"/>
          <p:cNvSpPr/>
          <p:nvPr/>
        </p:nvSpPr>
        <p:spPr>
          <a:xfrm>
            <a:off x="731520" y="6217920"/>
            <a:ext cx="548640" cy="54864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0E27"/>
                </a:solidFill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6126480"/>
            <a:ext cx="12344400" cy="7315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61722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Exportação Múltiplos Formatos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6473952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PDF, Excel, Word, KML, JSON</a:t>
            </a:r>
            <a:br/>
            <a:r>
              <a:t>conforme necessidade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Aplicações Práticas em Saneamento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Manutenção Preventiva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Registro georeferenciado de inspeções</a:t>
            </a:r>
            <a:br/>
            <a:r>
              <a:t>em redes de água e esgoto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828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Gestão de Vazamentos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26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Documentação com localização exata</a:t>
            </a:r>
            <a:br/>
            <a:r>
              <a:t>para análise de padrões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828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Cadastro de 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926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Mapeamento de hidrômetros, válvulas</a:t>
            </a:r>
            <a:br/>
            <a:r>
              <a:t>com coordenadas precisas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Acompanhamento de Obras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Registro cronológico e geolocalizado</a:t>
            </a:r>
            <a:br/>
            <a:r>
              <a:t>de progresso de instalações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114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754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Ordens de Serviço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212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Evidências fotográficas geolocalizadas</a:t>
            </a:r>
            <a:br/>
            <a:r>
              <a:t>de serviços executados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4114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576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754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Integração SIG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5212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Exportação KML para Google Earth</a:t>
            </a:r>
            <a:br/>
            <a:r>
              <a:t>e sistemas GIS corporativos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Benefícios Mensuráveis e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Ganhos Operacionais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⏱️  80% de redução no tempo de elaboração de relatórios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🎯  100% de precisão na localização de ativos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🚗  Redução de deslocamentos desnecessários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📈  Aumento de produtividade das equipes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🌱  Sustentabilidade: menos impressões e combustível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828800"/>
            <a:ext cx="6400800" cy="2743200"/>
          </a:xfrm>
          <a:prstGeom prst="rect">
            <a:avLst/>
          </a:prstGeom>
          <a:solidFill>
            <a:srgbClr val="065F46"/>
          </a:solidFill>
          <a:ln w="508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Investimento Necessário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0B981"/>
                </a:solidFill>
              </a:defRPr>
            </a:pPr>
            <a:r>
              <a:t>R$ 0,00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6576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1FAE5"/>
                </a:solidFill>
              </a:defRPr>
            </a:pPr>
            <a:r>
              <a:t>✅ Licença gratuita</a:t>
            </a:r>
            <a:br/>
            <a:r>
              <a:t>✅ Sem limite de usuários</a:t>
            </a:r>
            <a:br/>
            <a:r>
              <a:t>✅ Sem limite de processamento</a:t>
            </a:r>
            <a:br/>
            <a:r>
              <a:t>✅ Atualizações incluídas</a:t>
            </a:r>
            <a:br/>
            <a:r>
              <a:t>✅ Suporte da comunidade</a:t>
            </a:r>
            <a:br/>
            <a:r>
              <a:t>✅ Hospedagem inclusa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029200"/>
            <a:ext cx="6400800" cy="13716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166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💰 Análise Comparativa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577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Soluções comerciais: R$ 500 a R$ 2.000/usuário/ano</a:t>
            </a:r>
            <a:br/>
            <a:r>
              <a:t>Equipe de 50 usuários: economia de até R$ 100.000/ano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Arquitetura Tecnológica 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⚛️  Next.js 15 + React 19: Framework de alta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📘  TypeScript: Código robusto e tipagem estática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🎨  Tailwind CSS: Interface responsiva e profissional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📦  ExifReader: Extração eficiente de metadados EXIF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640080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☁️  Vercel Edge Network: Deploy global com baixa latência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Segurança e Conformidade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468880"/>
            <a:ext cx="6400800" cy="11887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560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🔐 Privacidade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Processamento 100% no navegador. Imagens nunca transmitidas.</a:t>
            </a:r>
            <a:br/>
            <a:r>
              <a:t>Conformidade total com LGPD.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840480"/>
            <a:ext cx="6400800" cy="11887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🛡️ Segurança de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2976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HTTPS obrigatório. Sem armazenamento em nuvem.</a:t>
            </a:r>
            <a:br/>
            <a:r>
              <a:t>Usuário mantém controle total.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5212080"/>
            <a:ext cx="6400800" cy="118872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5303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✅ Disponibilidade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6692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C5D6"/>
                </a:solidFill>
              </a:defRPr>
            </a:pPr>
            <a:r>
              <a:t>SLA 99.9% garantido. CDN global.</a:t>
            </a:r>
            <a:br/>
            <a:r>
              <a:t>Funcionamento offline após carregamento.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Diferenciais Competitivos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Velocidade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Processamento instantâneo vs.</a:t>
            </a:r>
            <a:br/>
            <a:r>
              <a:t>horas de trabalho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828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</a:defRPr>
            </a:pPr>
            <a:r>
              <a:t>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560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017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Dados estruturados e</a:t>
            </a:r>
            <a:br/>
            <a:r>
              <a:t>padronizados automaticamente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828800"/>
            <a:ext cx="438912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</a:defRPr>
            </a:pPr>
            <a: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560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Acessibilidade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017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Uso em qualquer lugar,</a:t>
            </a:r>
            <a:br/>
            <a:r>
              <a:t>qualquer dispositivo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4FF"/>
                </a:solidFill>
              </a:defRPr>
            </a:pPr>
            <a:r>
              <a:t>Por Que Escolher Esta Solução?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658368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💰 Custo Zero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754880"/>
            <a:ext cx="658368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892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🎯 Fácil Adoção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658368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📱 Mobile 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5577840"/>
            <a:ext cx="658368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5715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🔌 Interoperabilidade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658368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379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🔄 Evolução Contínua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6400800"/>
            <a:ext cx="6583680" cy="64008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65379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🌐 Escalável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Roadmap de Evolução 2025-2026</a:t>
            </a:r>
          </a:p>
        </p:txBody>
      </p:sp>
      <p:sp>
        <p:nvSpPr>
          <p:cNvPr id="4" name="Trapezoid 3"/>
          <p:cNvSpPr/>
          <p:nvPr/>
        </p:nvSpPr>
        <p:spPr>
          <a:xfrm>
            <a:off x="731520" y="2011680"/>
            <a:ext cx="640080" cy="64008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0E27"/>
                </a:solidFill>
              </a:defRPr>
            </a:pPr>
            <a:r>
              <a:t>Q1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011680"/>
            <a:ext cx="5486400" cy="9144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Mapa Interativo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8C5D6"/>
                </a:solidFill>
              </a:defRPr>
            </a:pPr>
            <a:r>
              <a:t>Visualização de imagens em mapa com clustering e filtros</a:t>
            </a:r>
          </a:p>
        </p:txBody>
      </p:sp>
      <p:sp>
        <p:nvSpPr>
          <p:cNvPr id="9" name="Trapezoid 8"/>
          <p:cNvSpPr/>
          <p:nvPr/>
        </p:nvSpPr>
        <p:spPr>
          <a:xfrm>
            <a:off x="731520" y="3200400"/>
            <a:ext cx="640080" cy="64008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0E27"/>
                </a:solidFill>
              </a:defRPr>
            </a:pPr>
            <a: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Medições Geodésicas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8C5D6"/>
                </a:solidFill>
              </a:defRPr>
            </a:pPr>
            <a:r>
              <a:t>Cálculo de distâncias, áreas e perímetros</a:t>
            </a:r>
          </a:p>
        </p:txBody>
      </p:sp>
      <p:sp>
        <p:nvSpPr>
          <p:cNvPr id="14" name="Trapezoid 13"/>
          <p:cNvSpPr/>
          <p:nvPr/>
        </p:nvSpPr>
        <p:spPr>
          <a:xfrm>
            <a:off x="731520" y="4389120"/>
            <a:ext cx="640080" cy="64008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0E27"/>
                </a:solidFill>
              </a:defRPr>
            </a:pPr>
            <a:r>
              <a:t>Q3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389120"/>
            <a:ext cx="5486400" cy="9144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IA para Análise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8C5D6"/>
                </a:solidFill>
              </a:defRPr>
            </a:pPr>
            <a:r>
              <a:t>Detecção automática de anomalias em infraestrutura</a:t>
            </a:r>
          </a:p>
        </p:txBody>
      </p:sp>
      <p:sp>
        <p:nvSpPr>
          <p:cNvPr id="19" name="Trapezoid 18"/>
          <p:cNvSpPr/>
          <p:nvPr/>
        </p:nvSpPr>
        <p:spPr>
          <a:xfrm>
            <a:off x="731520" y="5577840"/>
            <a:ext cx="640080" cy="640080"/>
          </a:xfrm>
          <a:prstGeom prst="trapezoid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0E27"/>
                </a:solidFill>
              </a:defRPr>
            </a:pPr>
            <a:r>
              <a:t>Q4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577840"/>
            <a:ext cx="5486400" cy="9144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API Corporativa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8C5D6"/>
                </a:solidFill>
              </a:defRPr>
            </a:pPr>
            <a:r>
              <a:t>Integração com sistemas ERP/SAP e GIS corporativos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011680"/>
            <a:ext cx="6400800" cy="50292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194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🎯 Visão de Longo Prazo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7432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Tornar-se a principal plataforma open-source de</a:t>
            </a:r>
            <a:br/>
            <a:r>
              <a:t>georreferenciamento para o setor de saneamento no Brasil: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🤝  Comunidade ativa de desenvolvedores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📚  Treinamentos e certificações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937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🌎  Expansão para outros segmentos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577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🔬  Parcerias com universidades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00"/>
          </a:xfrm>
          <a:prstGeom prst="rect">
            <a:avLst/>
          </a:prstGeom>
          <a:solidFill>
            <a:srgbClr val="1E3C72"/>
          </a:solidFill>
          <a:ln w="508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Inovação Acessível que Gera Valor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4FF"/>
                </a:solidFill>
              </a:defRPr>
            </a:pPr>
            <a:r>
              <a:t>R$ 0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INVESTIMENTO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2860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4FF"/>
                </a:solidFill>
              </a:defRPr>
            </a:pPr>
            <a:r>
              <a:t>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POTENCIAL</a:t>
            </a:r>
            <a:br/>
            <a:r>
              <a:t>DE ROI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22860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ATITUDE</a:t>
            </a:r>
            <a:br/>
            <a:r>
              <a:t>BRK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11887200" cy="1828800"/>
          </a:xfrm>
          <a:prstGeom prst="rect">
            <a:avLst/>
          </a:prstGeom>
          <a:solidFill>
            <a:srgbClr val="065F46"/>
          </a:solidFill>
          <a:ln w="508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Esta é a Atitude da Inovação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86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1FAE5"/>
                </a:solidFill>
              </a:defRPr>
            </a:pPr>
            <a:r>
              <a:t>Democratizar tecnologia de ponta, eliminar barreiras de custo,</a:t>
            </a:r>
            <a:br/>
            <a:r>
              <a:t>otimizar processos operacionais e gerar eficiência mensurável</a:t>
            </a:r>
            <a:br/>
            <a:r>
              <a:t>para o setor de saneamento brasileiro.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Acesse e Teste Agora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7315200"/>
            <a:ext cx="6400800" cy="548640"/>
          </a:xfrm>
          <a:prstGeom prst="rect">
            <a:avLst/>
          </a:prstGeom>
          <a:solidFill>
            <a:srgbClr val="1E3C72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7360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🔗 relatoriopendv0.vercel.app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B8C5D6"/>
                </a:solidFill>
              </a:defRPr>
            </a:pPr>
            <a:r>
              <a:t>Comprometidos com a excelência operacional</a:t>
            </a:r>
            <a:br/>
            <a:r>
              <a:t>e a transformação digital do saneamento brasileiro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Contato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Dúvidas técnicas e</a:t>
            </a:r>
            <a:br/>
            <a:r>
              <a:t>operacionais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50292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Sugestões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Sua experiência</a:t>
            </a:r>
            <a:br/>
            <a:r>
              <a:t>nos melhora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5029200"/>
            <a:ext cx="3657600" cy="1828800"/>
          </a:xfrm>
          <a:prstGeom prst="rect">
            <a:avLst/>
          </a:prstGeom>
          <a:solidFill>
            <a:srgbClr val="1E3C7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BRK Atitude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217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8C5D6"/>
                </a:solidFill>
              </a:defRPr>
            </a:pPr>
            <a:r>
              <a:t>Inovação que</a:t>
            </a:r>
            <a:br/>
            <a:r>
              <a:t>transforma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